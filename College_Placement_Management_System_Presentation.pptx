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640080"/>
            <a:ext cx="2926080" cy="2926080"/>
          </a:xfrm>
          <a:prstGeom prst="ellipse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1280160"/>
            <a:ext cx="2011680" cy="2011680"/>
          </a:xfrm>
          <a:prstGeom prst="ellipse">
            <a:avLst/>
          </a:prstGeom>
          <a:solidFill>
            <a:srgbClr val="1B4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1783080"/>
            <a:ext cx="1005840" cy="100584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00BEB4"/>
                </a:solidFill>
                <a:latin typeface="Aptos"/>
              </a:defRPr>
            </a:pPr>
            <a:r>
              <a:t>DATABASE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68096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"/>
              </a:defRPr>
            </a:pPr>
            <a:r>
              <a:t>COLLEGE PLACEMENT</a:t>
            </a:r>
            <a:br/>
            <a: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046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B2C1D4"/>
                </a:solidFill>
                <a:latin typeface="Aptos"/>
              </a:defRPr>
            </a:pPr>
            <a:r>
              <a:t>MySQL 8.0+  |  Recruitment Data  |  Reporting &amp;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5120640" cy="9144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074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B2C1D4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000" b="1">
                <a:solidFill>
                  <a:srgbClr val="F5F8FC"/>
                </a:solidFill>
                <a:latin typeface="Aptos"/>
              </a:defRPr>
            </a:pPr>
            <a:r>
              <a:t>P. PRAVALLIKA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B2C1D4"/>
                </a:solidFill>
                <a:latin typeface="Aptos"/>
              </a:defRPr>
            </a:pPr>
            <a:r>
              <a:t>College Submission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B2C1D4"/>
                </a:solidFill>
                <a:latin typeface="Aptos"/>
              </a:defRPr>
            </a:pPr>
            <a:r>
              <a:t>A relational database for organizing campus recruitment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200" b="1">
                <a:solidFill>
                  <a:srgbClr val="00BE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6002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BEB4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309067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Placement data can be spread across student, company, application and interview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16002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64008" cy="1600200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BE5A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309067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A structured MySQL database connects recruitment information through related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74720" cy="16002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64008" cy="1600200"/>
          </a:xfrm>
          <a:prstGeom prst="rect">
            <a:avLst/>
          </a:prstGeom>
          <a:solidFill>
            <a:srgbClr val="6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63DCA0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87168"/>
            <a:ext cx="309067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Queries and reports help track eligibility, applications, selections and offers.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1">
                <a:solidFill>
                  <a:srgbClr val="00BEB4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106070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Store placement data consistently and reduce duplication.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Connect records using primary keys and foreign keys.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Retrieve meaningful information using SQL queries, views and procedures.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1">
                <a:solidFill>
                  <a:srgbClr val="B2C1D4"/>
                </a:solidFill>
                <a:latin typeface="Aptos"/>
              </a:defRPr>
            </a:pPr>
            <a:r>
              <a:t>COLLEGE PLACEMENT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B2C1D4"/>
                </a:solidFill>
                <a:latin typeface="Aptos"/>
              </a:defRPr>
            </a:pPr>
            <a:r>
              <a:t>What the database is designed to manage.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200" b="1">
                <a:solidFill>
                  <a:srgbClr val="00BE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141732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41732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BEB4"/>
                </a:solidFill>
                <a:latin typeface="Aptos"/>
              </a:defRPr>
            </a:pPr>
            <a:r>
              <a:t>01  |  Student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487375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Roll number, department, CGPA, backlogs and placement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57800" cy="141732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64008" cy="1417320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993392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BE5A"/>
                </a:solidFill>
                <a:latin typeface="Aptos"/>
              </a:defRPr>
            </a:pPr>
            <a:r>
              <a:t>02  |  Recruiter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487168"/>
            <a:ext cx="487375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Company profiles, job roles and eligibility criteria.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57800" cy="141732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6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22191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63DCA0"/>
                </a:solidFill>
                <a:latin typeface="Aptos"/>
              </a:defRPr>
            </a:pPr>
            <a:r>
              <a:t>03  |  Recruitment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15968"/>
            <a:ext cx="487375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Placement drives, applications and interview rounds.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657600"/>
            <a:ext cx="5257800" cy="141732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657600"/>
            <a:ext cx="64008" cy="1417320"/>
          </a:xfrm>
          <a:prstGeom prst="rect">
            <a:avLst/>
          </a:prstGeom>
          <a:solidFill>
            <a:srgbClr val="5F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822191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5FDCDC"/>
                </a:solidFill>
                <a:latin typeface="Aptos"/>
              </a:defRPr>
            </a:pPr>
            <a:r>
              <a:t>04  |  Selection &amp; 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315968"/>
            <a:ext cx="4873752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Selection status, scores, offer dates and annual CTC.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1">
                <a:solidFill>
                  <a:srgbClr val="B2C1D4"/>
                </a:solidFill>
                <a:latin typeface="Aptos"/>
              </a:defRPr>
            </a:pPr>
            <a:r>
              <a:t>COLLEGE PLACEMENT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B2C1D4"/>
                </a:solidFill>
                <a:latin typeface="Aptos"/>
              </a:defRPr>
            </a:pPr>
            <a:r>
              <a:t>12 core tables model the recruitment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200" b="1">
                <a:solidFill>
                  <a:srgbClr val="00BE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74519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76272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Academic units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874519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176272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Student 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83080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874519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176272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Skill catalogue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07208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898648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student_skills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200400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Student-skill mapping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807208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898648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companies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200400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Recruiters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807208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898648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job_roles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200400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Open positions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31336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922776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placement_drives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224528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Campus/off-campus drives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831336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2584" y="3922776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company_drives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2584" y="4224528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Company participation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831336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3922776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4224528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Student applications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55464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946904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interview_rounds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5248656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Interview stages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855464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2584" y="4946904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selections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2584" y="5248656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Final decisions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855464"/>
            <a:ext cx="3429000" cy="749808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4946904"/>
            <a:ext cx="3154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00BEB4"/>
                </a:solidFill>
                <a:latin typeface="Aptos"/>
              </a:defRPr>
            </a:pPr>
            <a:r>
              <a:t>offers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344" y="5248656"/>
            <a:ext cx="3154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B2C1D4"/>
                </a:solidFill>
                <a:latin typeface="Aptos"/>
              </a:defRPr>
            </a:pPr>
            <a:r>
              <a:t>Offer details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893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Relationships use primary keys, foreign keys, unique constraints and validation checks.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1">
                <a:solidFill>
                  <a:srgbClr val="B2C1D4"/>
                </a:solidFill>
                <a:latin typeface="Aptos"/>
              </a:defRPr>
            </a:pPr>
            <a:r>
              <a:t>COLLEGE PLACEMENT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Recruitment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B2C1D4"/>
                </a:solidFill>
                <a:latin typeface="Aptos"/>
              </a:defRPr>
            </a:pPr>
            <a:r>
              <a:t>From student profile to final offer.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200" b="1">
                <a:solidFill>
                  <a:srgbClr val="00BE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2057400" cy="1874519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16152" y="1783080"/>
            <a:ext cx="640080" cy="64008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920240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F1C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Register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20040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B2C1D4"/>
                </a:solidFill>
                <a:latin typeface="Aptos"/>
              </a:defRPr>
            </a:pPr>
            <a:r>
              <a:t>Students • departments •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889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00BE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240280"/>
            <a:ext cx="2057400" cy="1874519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5304" y="1783080"/>
            <a:ext cx="640080" cy="64008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920240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F1C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6517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Publish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20040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B2C1D4"/>
                </a:solidFill>
                <a:latin typeface="Aptos"/>
              </a:defRPr>
            </a:pPr>
            <a:r>
              <a:t>Companies • job roles • drives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7889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00BE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2240280"/>
            <a:ext cx="2057400" cy="1874519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34456" y="1783080"/>
            <a:ext cx="640080" cy="64008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1920240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F1C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6517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Apply &amp;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320040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B2C1D4"/>
                </a:solidFill>
                <a:latin typeface="Aptos"/>
              </a:defRPr>
            </a:pPr>
            <a:r>
              <a:t>Eligibility • resume •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27889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00BE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0376" y="2240280"/>
            <a:ext cx="2057400" cy="1874519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93608" y="1783080"/>
            <a:ext cx="640080" cy="64008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1920240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F1C3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26517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Interview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320040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B2C1D4"/>
                </a:solidFill>
                <a:latin typeface="Aptos"/>
              </a:defRPr>
            </a:pPr>
            <a:r>
              <a:t>Aptitude • technical • 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7889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00BE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9528" y="2240280"/>
            <a:ext cx="2057400" cy="1874519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52760" y="1783080"/>
            <a:ext cx="640080" cy="640080"/>
          </a:xfrm>
          <a:prstGeom prst="ellipse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1920240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F1C3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26517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Select &amp;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20040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B2C1D4"/>
                </a:solidFill>
                <a:latin typeface="Aptos"/>
              </a:defRPr>
            </a:pPr>
            <a:r>
              <a:t>Final score • CTC • joining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8348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Each stage is connected through related records instead of storing everything in one table.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1">
                <a:solidFill>
                  <a:srgbClr val="B2C1D4"/>
                </a:solidFill>
                <a:latin typeface="Aptos"/>
              </a:defRPr>
            </a:pPr>
            <a:r>
              <a:t>COLLEGE PLACEMENT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SQL Features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B2C1D4"/>
                </a:solidFill>
                <a:latin typeface="Aptos"/>
              </a:defRPr>
            </a:pPr>
            <a:r>
              <a:t>Core database objects support reliable data handling and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200" b="1">
                <a:solidFill>
                  <a:srgbClr val="00BEB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520440" cy="16002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BEB4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313639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Primary keys, foreign keys, UNIQUE rules and CHECK conditions help protect data integrity.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16002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64008" cy="1600200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BE5A"/>
                </a:solidFill>
                <a:latin typeface="Aptos"/>
              </a:defRPr>
            </a:pPr>
            <a:r>
              <a:t>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41448"/>
            <a:ext cx="313639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Indexes are defined for frequently filtered fields such as department, CGPA, status and 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520440" cy="16002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83080"/>
            <a:ext cx="64008" cy="1600200"/>
          </a:xfrm>
          <a:prstGeom prst="rect">
            <a:avLst/>
          </a:prstGeom>
          <a:solidFill>
            <a:srgbClr val="6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94767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63DCA0"/>
                </a:solidFill>
                <a:latin typeface="Aptos"/>
              </a:defRPr>
            </a:pPr>
            <a:r>
              <a:t>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41448"/>
            <a:ext cx="313639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10 reporting views combine student, company, drive, application, interview and offer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794760"/>
            <a:ext cx="3520440" cy="16002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794760"/>
            <a:ext cx="64008" cy="1600200"/>
          </a:xfrm>
          <a:prstGeom prst="rect">
            <a:avLst/>
          </a:prstGeom>
          <a:solidFill>
            <a:srgbClr val="5F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395935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5FDCDC"/>
                </a:solidFill>
                <a:latin typeface="Aptos"/>
              </a:defRPr>
            </a:pPr>
            <a:r>
              <a:t>STORED PROCEDURES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453128"/>
            <a:ext cx="313639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Reusable operations include student details, department counts, CGPA and eligibility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94760"/>
            <a:ext cx="3520440" cy="16002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94760"/>
            <a:ext cx="64008" cy="1600200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95935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BE5A"/>
                </a:solidFill>
                <a:latin typeface="Aptos"/>
              </a:defRPr>
            </a:pPr>
            <a:r>
              <a:t>TRIGGERS &amp;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453128"/>
            <a:ext cx="313639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Triggers support validation/status logic; query sets support searching and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1">
                <a:solidFill>
                  <a:srgbClr val="B2C1D4"/>
                </a:solidFill>
                <a:latin typeface="Aptos"/>
              </a:defRPr>
            </a:pPr>
            <a:r>
              <a:t>COLLEGE PLACEMENT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Queries &amp;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B2C1D4"/>
                </a:solidFill>
                <a:latin typeface="Aptos"/>
              </a:defRPr>
            </a:pPr>
            <a:r>
              <a:t>Examples of questions the database can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200" b="1">
                <a:solidFill>
                  <a:srgbClr val="00BEB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1078992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10789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BEB4"/>
                </a:solidFill>
                <a:latin typeface="Aptos"/>
              </a:defRPr>
            </a:pPr>
            <a:r>
              <a:t>Student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73752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Which department does a student belong to, and what is their CGPA and placement status?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5257800" cy="1078992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64008" cy="1078992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901952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BE5A"/>
                </a:solidFill>
                <a:latin typeface="Aptos"/>
              </a:defRPr>
            </a:pPr>
            <a:r>
              <a:t>Eligibility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95728"/>
            <a:ext cx="4873752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Does a student meet a role’s CGPA, backlog and graduation-year requirements?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90672"/>
            <a:ext cx="5257800" cy="1078992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90672"/>
            <a:ext cx="64008" cy="1078992"/>
          </a:xfrm>
          <a:prstGeom prst="rect">
            <a:avLst/>
          </a:prstGeom>
          <a:solidFill>
            <a:srgbClr val="63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63DCA0"/>
                </a:solidFill>
                <a:latin typeface="Aptos"/>
              </a:defRPr>
            </a:pPr>
            <a:r>
              <a:t>Application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749039"/>
            <a:ext cx="4873752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Which company and role is each student applying for, and what is the current status?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90672"/>
            <a:ext cx="5257800" cy="1078992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090672"/>
            <a:ext cx="64008" cy="1078992"/>
          </a:xfrm>
          <a:prstGeom prst="rect">
            <a:avLst/>
          </a:prstGeom>
          <a:solidFill>
            <a:srgbClr val="5F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255264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5FDCDC"/>
                </a:solidFill>
                <a:latin typeface="Aptos"/>
              </a:defRPr>
            </a:pPr>
            <a:r>
              <a:t>Interview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749039"/>
            <a:ext cx="4873752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What scores and feedback were recorded across interview rounds?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43983"/>
            <a:ext cx="5257800" cy="1078992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443983"/>
            <a:ext cx="64008" cy="1078992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08575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BE5A"/>
                </a:solidFill>
                <a:latin typeface="Aptos"/>
              </a:defRPr>
            </a:pPr>
            <a:r>
              <a:t>Placement statistics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102351"/>
            <a:ext cx="4873752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How many students are placed or not placed in each department?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443983"/>
            <a:ext cx="5257800" cy="1078992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443983"/>
            <a:ext cx="64008" cy="10789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608575"/>
            <a:ext cx="48737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00BEB4"/>
                </a:solidFill>
                <a:latin typeface="Aptos"/>
              </a:defRPr>
            </a:pPr>
            <a:r>
              <a:t>Offer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5102351"/>
            <a:ext cx="4873752" cy="2743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What offers were issued, their annual CTC, joining date and offer status?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1">
                <a:solidFill>
                  <a:srgbClr val="B2C1D4"/>
                </a:solidFill>
                <a:latin typeface="Aptos"/>
              </a:defRPr>
            </a:pPr>
            <a:r>
              <a:t>COLLEGE PLACEMENT MANAGEMENT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Sample Data &amp;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0584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B2C1D4"/>
                </a:solidFill>
                <a:latin typeface="Aptos"/>
              </a:defRPr>
            </a:pPr>
            <a:r>
              <a:t>The SQL script includes sample records for testing the recruitment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200" b="1">
                <a:solidFill>
                  <a:srgbClr val="00BEB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11430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11095"/>
            <a:ext cx="1005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00BEB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29967"/>
            <a:ext cx="2057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Student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383280" cy="11430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11095"/>
            <a:ext cx="1005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00BEB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029967"/>
            <a:ext cx="2057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Company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83080"/>
            <a:ext cx="3383280" cy="11430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11095"/>
            <a:ext cx="1005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00BEB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29967"/>
            <a:ext cx="2057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Job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39"/>
            <a:ext cx="3383280" cy="11430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19856"/>
            <a:ext cx="1005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00BEB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38727"/>
            <a:ext cx="2057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Placement drives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291839"/>
            <a:ext cx="3383280" cy="11430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419856"/>
            <a:ext cx="1005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00BEB4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538727"/>
            <a:ext cx="2057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291839"/>
            <a:ext cx="3383280" cy="1143000"/>
          </a:xfrm>
          <a:prstGeom prst="roundRect">
            <a:avLst/>
          </a:prstGeom>
          <a:solidFill>
            <a:srgbClr val="1D314F"/>
          </a:solidFill>
          <a:ln>
            <a:solidFill>
              <a:srgbClr val="31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419856"/>
            <a:ext cx="1005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00BEB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38727"/>
            <a:ext cx="2057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Offers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106984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B2C1D4"/>
                </a:solidFill>
                <a:latin typeface="Aptos"/>
              </a:defRPr>
            </a:pPr>
            <a:r>
              <a:t>Demonstration can show table contents, a joined view, eligibility procedure output, and selection/offer details.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25312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FFBE5A"/>
                </a:solidFill>
                <a:latin typeface="Aptos"/>
              </a:defRPr>
            </a:pPr>
            <a:r>
              <a:t>Note: figures represent the sample data in the supplied SQL script, not real institutional statistics.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1">
                <a:solidFill>
                  <a:srgbClr val="B2C1D4"/>
                </a:solidFill>
                <a:latin typeface="Aptos"/>
              </a:defRPr>
            </a:pPr>
            <a:r>
              <a:t>COLLEGE PLACEMENT MANAGEMENT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3657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00BEB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7724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200" b="1">
                <a:solidFill>
                  <a:srgbClr val="F5F8FC"/>
                </a:solidFill>
                <a:latin typeface="Aptos"/>
              </a:defRPr>
            </a:pPr>
            <a:r>
              <a:t>One database.</a:t>
            </a:r>
            <a:br/>
            <a:r>
              <a:t>A clearer placement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80467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0">
                <a:solidFill>
                  <a:srgbClr val="B2C1D4"/>
                </a:solidFill>
                <a:latin typeface="Aptos"/>
              </a:defRPr>
            </a:pPr>
            <a:r>
              <a:t>The College Placement Management System demonstrates how MySQL can organize recruitment data, enforce relationships, automate checks and generate useful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1417320"/>
            <a:ext cx="1828800" cy="502920"/>
          </a:xfrm>
          <a:prstGeom prst="roundRect">
            <a:avLst/>
          </a:prstGeom>
          <a:solidFill>
            <a:srgbClr val="1D314F"/>
          </a:solidFill>
          <a:ln>
            <a:solidFill>
              <a:srgbClr val="0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51392" y="1545336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00BEB4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2423160"/>
            <a:ext cx="1828800" cy="502920"/>
          </a:xfrm>
          <a:prstGeom prst="roundRect">
            <a:avLst/>
          </a:prstGeom>
          <a:solidFill>
            <a:srgbClr val="1D314F"/>
          </a:solidFill>
          <a:ln>
            <a:solidFill>
              <a:srgbClr val="FF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11512" y="2551176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BE5A"/>
                </a:solidFill>
                <a:latin typeface="Aptos"/>
              </a:defRPr>
            </a:pPr>
            <a:r>
              <a:t>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3520440"/>
            <a:ext cx="1828800" cy="502920"/>
          </a:xfrm>
          <a:prstGeom prst="roundRect">
            <a:avLst/>
          </a:prstGeom>
          <a:solidFill>
            <a:srgbClr val="1D314F"/>
          </a:solidFill>
          <a:ln>
            <a:solidFill>
              <a:srgbClr val="63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14232" y="3648456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63DCA0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4434840"/>
            <a:ext cx="1828800" cy="502920"/>
          </a:xfrm>
          <a:prstGeom prst="roundRect">
            <a:avLst/>
          </a:prstGeom>
          <a:solidFill>
            <a:srgbClr val="1D314F"/>
          </a:solidFill>
          <a:ln>
            <a:solidFill>
              <a:srgbClr val="5F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31552" y="4562855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5FDCDC"/>
                </a:solidFill>
                <a:latin typeface="Aptos"/>
              </a:defRPr>
            </a:pPr>
            <a:r>
              <a:t>OFFERS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3474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400" b="1">
                <a:solidFill>
                  <a:srgbClr val="00BEB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806440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Presented by P. Pravallika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37960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800" b="1">
                <a:solidFill>
                  <a:srgbClr val="B2C1D4"/>
                </a:solidFill>
                <a:latin typeface="Aptos"/>
              </a:defRPr>
            </a:pPr>
            <a:r>
              <a:t>COLLEGE PLACEMENT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